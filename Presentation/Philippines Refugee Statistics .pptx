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roxima Nova Condensed Bold" charset="1" panose="02000506030000020004"/>
      <p:regular r:id="rId13"/>
    </p:embeddedFont>
    <p:embeddedFont>
      <p:font typeface="Inter" charset="1" panose="020B0502030000000004"/>
      <p:regular r:id="rId14"/>
    </p:embeddedFont>
    <p:embeddedFont>
      <p:font typeface="Proxima Nova Condensed" charset="1" panose="02000506030000020004"/>
      <p:regular r:id="rId15"/>
    </p:embeddedFont>
    <p:embeddedFont>
      <p:font typeface="Inter Bold" charset="1" panose="020B080203000000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9157" y="992294"/>
            <a:ext cx="10130387" cy="244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96"/>
              </a:lnSpc>
            </a:pPr>
            <a:r>
              <a:rPr lang="en-US" sz="9496" spc="-282" b="true">
                <a:solidFill>
                  <a:srgbClr val="FFFFFF">
                    <a:alpha val="94902"/>
                  </a:srgbClr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Philippines</a:t>
            </a:r>
          </a:p>
          <a:p>
            <a:pPr algn="l">
              <a:lnSpc>
                <a:spcPts val="9496"/>
              </a:lnSpc>
            </a:pPr>
            <a:r>
              <a:rPr lang="en-US" sz="9496" spc="-282" b="true">
                <a:solidFill>
                  <a:srgbClr val="FFFFFF">
                    <a:alpha val="94902"/>
                  </a:srgbClr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Refugee Statistics,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2943" y="3522515"/>
            <a:ext cx="5751751" cy="124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96"/>
              </a:lnSpc>
            </a:pPr>
            <a:r>
              <a:rPr lang="en-US" sz="9496" spc="-282" b="true">
                <a:solidFill>
                  <a:srgbClr val="056FD7">
                    <a:alpha val="94902"/>
                  </a:srgbClr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2012-2022: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5394" y="4692229"/>
            <a:ext cx="6506691" cy="1392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625" spc="-45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An Applied Data-Mining</a:t>
            </a:r>
          </a:p>
          <a:p>
            <a:pPr algn="l">
              <a:lnSpc>
                <a:spcPts val="5551"/>
              </a:lnSpc>
            </a:pPr>
            <a:r>
              <a:rPr lang="en-US" sz="4625" spc="-45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and Visualization Study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6428009"/>
            <a:ext cx="1542230" cy="437279"/>
          </a:xfrm>
          <a:custGeom>
            <a:avLst/>
            <a:gdLst/>
            <a:ahLst/>
            <a:cxnLst/>
            <a:rect r="r" b="b" t="t" l="l"/>
            <a:pathLst>
              <a:path h="437279" w="1542230">
                <a:moveTo>
                  <a:pt x="0" y="0"/>
                </a:moveTo>
                <a:lnTo>
                  <a:pt x="1542230" y="0"/>
                </a:lnTo>
                <a:lnTo>
                  <a:pt x="154223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6049" y="7171693"/>
            <a:ext cx="3441176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spc="-32" b="true">
                <a:solidFill>
                  <a:srgbClr val="FFFFFF">
                    <a:alpha val="94902"/>
                  </a:srgbClr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Emerson C. Antic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1754" y="7849430"/>
            <a:ext cx="2549589" cy="41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26">
                <a:solidFill>
                  <a:srgbClr val="FFFFFF">
                    <a:alpha val="94902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October 11,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4372268" cy="10287000"/>
          </a:xfrm>
          <a:custGeom>
            <a:avLst/>
            <a:gdLst/>
            <a:ahLst/>
            <a:cxnLst/>
            <a:rect r="r" b="b" t="t" l="l"/>
            <a:pathLst>
              <a:path h="10287000" w="14372268">
                <a:moveTo>
                  <a:pt x="0" y="0"/>
                </a:moveTo>
                <a:lnTo>
                  <a:pt x="14372268" y="0"/>
                </a:lnTo>
                <a:lnTo>
                  <a:pt x="143722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25244" y="4919394"/>
            <a:ext cx="3270402" cy="5367606"/>
          </a:xfrm>
          <a:custGeom>
            <a:avLst/>
            <a:gdLst/>
            <a:ahLst/>
            <a:cxnLst/>
            <a:rect r="r" b="b" t="t" l="l"/>
            <a:pathLst>
              <a:path h="5367606" w="3270402">
                <a:moveTo>
                  <a:pt x="0" y="0"/>
                </a:moveTo>
                <a:lnTo>
                  <a:pt x="3270402" y="0"/>
                </a:lnTo>
                <a:lnTo>
                  <a:pt x="3270402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2220" y="1064230"/>
            <a:ext cx="9181872" cy="229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8"/>
              </a:lnSpc>
            </a:pPr>
            <a:r>
              <a:rPr lang="en-US" sz="9496" spc="-190" b="true">
                <a:solidFill>
                  <a:srgbClr val="F8F8F8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Purpose and Research Questions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3421712"/>
            <a:ext cx="1531292" cy="229572"/>
          </a:xfrm>
          <a:custGeom>
            <a:avLst/>
            <a:gdLst/>
            <a:ahLst/>
            <a:cxnLst/>
            <a:rect r="r" b="b" t="t" l="l"/>
            <a:pathLst>
              <a:path h="229572" w="1531292">
                <a:moveTo>
                  <a:pt x="0" y="0"/>
                </a:moveTo>
                <a:lnTo>
                  <a:pt x="1531292" y="0"/>
                </a:lnTo>
                <a:lnTo>
                  <a:pt x="153129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36043" y="4154102"/>
            <a:ext cx="8194134" cy="86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970" spc="-118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Examine </a:t>
            </a:r>
            <a:r>
              <a:rPr lang="en-US" sz="2970" spc="-118" b="true">
                <a:solidFill>
                  <a:srgbClr val="0C79DF"/>
                </a:solidFill>
                <a:latin typeface="Inter Bold"/>
                <a:ea typeface="Inter Bold"/>
                <a:cs typeface="Inter Bold"/>
                <a:sym typeface="Inter Bold"/>
              </a:rPr>
              <a:t>annual changes</a:t>
            </a:r>
            <a:r>
              <a:rPr lang="en-US" sz="2970" spc="-118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 in refugee and asylum-seeker counts recorded in the Philippines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8312" y="5338335"/>
            <a:ext cx="5967283" cy="85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8"/>
              </a:lnSpc>
            </a:pPr>
            <a:r>
              <a:rPr lang="en-US" sz="3032" spc="-121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Identify </a:t>
            </a:r>
            <a:r>
              <a:rPr lang="en-US" sz="3032" spc="-121" b="true">
                <a:solidFill>
                  <a:srgbClr val="0C79DF"/>
                </a:solidFill>
                <a:latin typeface="Inter Bold"/>
                <a:ea typeface="Inter Bold"/>
                <a:cs typeface="Inter Bold"/>
                <a:sym typeface="Inter Bold"/>
              </a:rPr>
              <a:t>countries of origin</a:t>
            </a:r>
            <a:r>
              <a:rPr lang="en-US" sz="3032" spc="-121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 with the largest refugee populations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1786" y="6513080"/>
            <a:ext cx="5619825" cy="85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8"/>
              </a:lnSpc>
            </a:pPr>
            <a:r>
              <a:rPr lang="en-US" sz="3032" spc="-121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Compare </a:t>
            </a:r>
            <a:r>
              <a:rPr lang="en-US" sz="3032" spc="-121" b="true">
                <a:solidFill>
                  <a:srgbClr val="0C79DF"/>
                </a:solidFill>
                <a:latin typeface="Inter Bold"/>
                <a:ea typeface="Inter Bold"/>
                <a:cs typeface="Inter Bold"/>
                <a:sym typeface="Inter Bold"/>
              </a:rPr>
              <a:t>refugees</a:t>
            </a:r>
            <a:r>
              <a:rPr lang="en-US" sz="3032" spc="-121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 with </a:t>
            </a:r>
            <a:r>
              <a:rPr lang="en-US" sz="3032" spc="-121" b="true">
                <a:solidFill>
                  <a:srgbClr val="0C79DF"/>
                </a:solidFill>
                <a:latin typeface="Inter Bold"/>
                <a:ea typeface="Inter Bold"/>
                <a:cs typeface="Inter Bold"/>
                <a:sym typeface="Inter Bold"/>
              </a:rPr>
              <a:t>asylum-seekers</a:t>
            </a:r>
            <a:r>
              <a:rPr lang="en-US" sz="3032" spc="-121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 by counts and trends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7379" y="7678257"/>
            <a:ext cx="8060579" cy="45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168" spc="-126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Detect notable </a:t>
            </a:r>
            <a:r>
              <a:rPr lang="en-US" sz="3168" spc="-126" b="true">
                <a:solidFill>
                  <a:srgbClr val="0C79DF"/>
                </a:solidFill>
                <a:latin typeface="Inter Bold"/>
                <a:ea typeface="Inter Bold"/>
                <a:cs typeface="Inter Bold"/>
                <a:sym typeface="Inter Bold"/>
              </a:rPr>
              <a:t>changes by country</a:t>
            </a:r>
            <a:r>
              <a:rPr lang="en-US" sz="3168" spc="-126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 over time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1744" y="8455929"/>
            <a:ext cx="7623991" cy="85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8"/>
              </a:lnSpc>
            </a:pPr>
            <a:r>
              <a:rPr lang="en-US" sz="3032" spc="-121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Describe </a:t>
            </a:r>
            <a:r>
              <a:rPr lang="en-US" sz="3032" spc="-121" b="true">
                <a:solidFill>
                  <a:srgbClr val="0C79DF"/>
                </a:solidFill>
                <a:latin typeface="Inter Bold"/>
                <a:ea typeface="Inter Bold"/>
                <a:cs typeface="Inter Bold"/>
                <a:sym typeface="Inter Bold"/>
              </a:rPr>
              <a:t>historical patterns</a:t>
            </a:r>
            <a:r>
              <a:rPr lang="en-US" sz="3032" spc="-121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 without inferring causes or social effects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06488" y="0"/>
            <a:ext cx="4801694" cy="10287000"/>
          </a:xfrm>
          <a:custGeom>
            <a:avLst/>
            <a:gdLst/>
            <a:ahLst/>
            <a:cxnLst/>
            <a:rect r="r" b="b" t="t" l="l"/>
            <a:pathLst>
              <a:path h="10287000" w="4801694">
                <a:moveTo>
                  <a:pt x="0" y="0"/>
                </a:moveTo>
                <a:lnTo>
                  <a:pt x="4801694" y="0"/>
                </a:lnTo>
                <a:lnTo>
                  <a:pt x="48016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65952" y="0"/>
            <a:ext cx="6322048" cy="3006296"/>
          </a:xfrm>
          <a:custGeom>
            <a:avLst/>
            <a:gdLst/>
            <a:ahLst/>
            <a:cxnLst/>
            <a:rect r="r" b="b" t="t" l="l"/>
            <a:pathLst>
              <a:path h="3006296" w="6322048">
                <a:moveTo>
                  <a:pt x="0" y="0"/>
                </a:moveTo>
                <a:lnTo>
                  <a:pt x="6322048" y="0"/>
                </a:lnTo>
                <a:lnTo>
                  <a:pt x="6322048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2995365"/>
            <a:ext cx="9144000" cy="7291635"/>
          </a:xfrm>
          <a:custGeom>
            <a:avLst/>
            <a:gdLst/>
            <a:ahLst/>
            <a:cxnLst/>
            <a:rect r="r" b="b" t="t" l="l"/>
            <a:pathLst>
              <a:path h="7291635" w="9144000">
                <a:moveTo>
                  <a:pt x="0" y="0"/>
                </a:moveTo>
                <a:lnTo>
                  <a:pt x="9144000" y="0"/>
                </a:lnTo>
                <a:lnTo>
                  <a:pt x="9144000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2089" y="598075"/>
            <a:ext cx="9516130" cy="1940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3"/>
              </a:lnSpc>
            </a:pPr>
            <a:r>
              <a:rPr lang="en-US" sz="7543" spc="-151" b="true">
                <a:solidFill>
                  <a:srgbClr val="F8F8F8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Dataset and </a:t>
            </a:r>
          </a:p>
          <a:p>
            <a:pPr algn="l">
              <a:lnSpc>
                <a:spcPts val="7543"/>
              </a:lnSpc>
            </a:pPr>
            <a:r>
              <a:rPr lang="en-US" sz="7543" spc="-151" b="true">
                <a:solidFill>
                  <a:srgbClr val="F8F8F8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Variable Classification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2569017"/>
            <a:ext cx="1323474" cy="218640"/>
          </a:xfrm>
          <a:custGeom>
            <a:avLst/>
            <a:gdLst/>
            <a:ahLst/>
            <a:cxnLst/>
            <a:rect r="r" b="b" t="t" l="l"/>
            <a:pathLst>
              <a:path h="218640" w="1323474">
                <a:moveTo>
                  <a:pt x="0" y="0"/>
                </a:moveTo>
                <a:lnTo>
                  <a:pt x="1323474" y="0"/>
                </a:lnTo>
                <a:lnTo>
                  <a:pt x="132347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68470" y="3079013"/>
            <a:ext cx="945331" cy="842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6"/>
              </a:lnSpc>
            </a:pPr>
            <a:r>
              <a:rPr lang="en-US" b="true" sz="6426" spc="-62">
                <a:solidFill>
                  <a:srgbClr val="157BDC"/>
                </a:solidFill>
                <a:latin typeface="Inter Bold"/>
                <a:ea typeface="Inter Bold"/>
                <a:cs typeface="Inter Bold"/>
                <a:sym typeface="Inter Bold"/>
              </a:rPr>
              <a:t>11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7729" y="3933612"/>
            <a:ext cx="1461852" cy="57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986" spc="-19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years of data</a:t>
            </a:r>
          </a:p>
          <a:p>
            <a:pPr algn="ctr">
              <a:lnSpc>
                <a:spcPts val="2383"/>
              </a:lnSpc>
            </a:pPr>
            <a:r>
              <a:rPr lang="en-US" sz="1986" spc="-19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2012-2022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478220" y="2995365"/>
            <a:ext cx="229694" cy="1727254"/>
          </a:xfrm>
          <a:custGeom>
            <a:avLst/>
            <a:gdLst/>
            <a:ahLst/>
            <a:cxnLst/>
            <a:rect r="r" b="b" t="t" l="l"/>
            <a:pathLst>
              <a:path h="1727254" w="229694">
                <a:moveTo>
                  <a:pt x="0" y="0"/>
                </a:moveTo>
                <a:lnTo>
                  <a:pt x="229694" y="0"/>
                </a:lnTo>
                <a:lnTo>
                  <a:pt x="22969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338114" y="3079013"/>
            <a:ext cx="945331" cy="842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6"/>
              </a:lnSpc>
            </a:pPr>
            <a:r>
              <a:rPr lang="en-US" b="true" sz="6426" spc="-62">
                <a:solidFill>
                  <a:srgbClr val="157BDC"/>
                </a:solidFill>
                <a:latin typeface="Inter Bold"/>
                <a:ea typeface="Inter Bold"/>
                <a:cs typeface="Inter Bold"/>
                <a:sym typeface="Inter Bold"/>
              </a:rPr>
              <a:t>31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96404" y="3933612"/>
            <a:ext cx="1343791" cy="57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986" spc="-19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countries represented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311110" y="2995365"/>
            <a:ext cx="229694" cy="1727254"/>
          </a:xfrm>
          <a:custGeom>
            <a:avLst/>
            <a:gdLst/>
            <a:ahLst/>
            <a:cxnLst/>
            <a:rect r="r" b="b" t="t" l="l"/>
            <a:pathLst>
              <a:path h="1727254" w="229694">
                <a:moveTo>
                  <a:pt x="0" y="0"/>
                </a:moveTo>
                <a:lnTo>
                  <a:pt x="229694" y="0"/>
                </a:lnTo>
                <a:lnTo>
                  <a:pt x="22969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217543" y="3091659"/>
            <a:ext cx="1550422" cy="986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b="true" sz="3893" spc="-38">
                <a:solidFill>
                  <a:srgbClr val="157BDC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THREE TYPES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29657" y="4129403"/>
            <a:ext cx="1303218" cy="28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986" spc="-19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of variables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5330" y="4711687"/>
            <a:ext cx="9154938" cy="2798589"/>
          </a:xfrm>
          <a:custGeom>
            <a:avLst/>
            <a:gdLst/>
            <a:ahLst/>
            <a:cxnLst/>
            <a:rect r="r" b="b" t="t" l="l"/>
            <a:pathLst>
              <a:path h="2798589" w="9154938">
                <a:moveTo>
                  <a:pt x="0" y="0"/>
                </a:moveTo>
                <a:lnTo>
                  <a:pt x="9154938" y="0"/>
                </a:lnTo>
                <a:lnTo>
                  <a:pt x="9154938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32297" y="4977859"/>
            <a:ext cx="1955602" cy="32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b="true" sz="2188" spc="-21">
                <a:solidFill>
                  <a:srgbClr val="157BDC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QUALITATIVE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1836" y="5414366"/>
            <a:ext cx="2046063" cy="1459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1"/>
              </a:lnSpc>
            </a:pPr>
            <a:r>
              <a:rPr lang="en-US" sz="1784" spc="-17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Year</a:t>
            </a:r>
          </a:p>
          <a:p>
            <a:pPr algn="l">
              <a:lnSpc>
                <a:spcPts val="2498"/>
              </a:lnSpc>
            </a:pPr>
            <a:r>
              <a:rPr lang="en-US" sz="1784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temporal / ordinal</a:t>
            </a:r>
          </a:p>
          <a:p>
            <a:pPr algn="l">
              <a:lnSpc>
                <a:spcPts val="2498"/>
              </a:lnSpc>
            </a:pPr>
            <a:r>
              <a:rPr lang="en-US" sz="1784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Asylum Country</a:t>
            </a:r>
          </a:p>
          <a:p>
            <a:pPr algn="l">
              <a:lnSpc>
                <a:spcPts val="2498"/>
              </a:lnSpc>
            </a:pPr>
            <a:r>
              <a:rPr lang="en-US" sz="1784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Country-of-Origin</a:t>
            </a:r>
          </a:p>
          <a:p>
            <a:pPr algn="l">
              <a:lnSpc>
                <a:spcPts val="2498"/>
              </a:lnSpc>
            </a:pPr>
            <a:r>
              <a:rPr lang="en-US" sz="1784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nominal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3696976" y="4711687"/>
            <a:ext cx="229694" cy="2798589"/>
          </a:xfrm>
          <a:custGeom>
            <a:avLst/>
            <a:gdLst/>
            <a:ahLst/>
            <a:cxnLst/>
            <a:rect r="r" b="b" t="t" l="l"/>
            <a:pathLst>
              <a:path h="2798589" w="229694">
                <a:moveTo>
                  <a:pt x="0" y="0"/>
                </a:moveTo>
                <a:lnTo>
                  <a:pt x="229694" y="0"/>
                </a:lnTo>
                <a:lnTo>
                  <a:pt x="229694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259461" y="4977859"/>
            <a:ext cx="1955602" cy="32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b="true" sz="2188" spc="-21">
                <a:solidFill>
                  <a:srgbClr val="157BDC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QUANTITATIVE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40951" y="5713581"/>
            <a:ext cx="1851009" cy="1181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1784" spc="-17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UNHCR-refugees</a:t>
            </a:r>
          </a:p>
          <a:p>
            <a:pPr algn="l">
              <a:lnSpc>
                <a:spcPts val="2498"/>
              </a:lnSpc>
            </a:pPr>
            <a:r>
              <a:rPr lang="en-US" sz="1784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Asylum-seekers</a:t>
            </a:r>
          </a:p>
          <a:p>
            <a:pPr algn="l">
              <a:lnSpc>
                <a:spcPts val="2498"/>
              </a:lnSpc>
            </a:pPr>
            <a:r>
              <a:rPr lang="en-US" sz="1784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Total-count</a:t>
            </a:r>
          </a:p>
          <a:p>
            <a:pPr algn="l">
              <a:lnSpc>
                <a:spcPts val="2498"/>
              </a:lnSpc>
            </a:pPr>
            <a:r>
              <a:rPr lang="en-US" sz="1784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discrete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748622" y="4711687"/>
            <a:ext cx="218756" cy="2798589"/>
          </a:xfrm>
          <a:custGeom>
            <a:avLst/>
            <a:gdLst/>
            <a:ahLst/>
            <a:cxnLst/>
            <a:rect r="r" b="b" t="t" l="l"/>
            <a:pathLst>
              <a:path h="2798589" w="218756">
                <a:moveTo>
                  <a:pt x="0" y="0"/>
                </a:moveTo>
                <a:lnTo>
                  <a:pt x="218756" y="0"/>
                </a:lnTo>
                <a:lnTo>
                  <a:pt x="218756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366992" y="4977859"/>
            <a:ext cx="1955602" cy="32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b="true" sz="2188" spc="-21">
                <a:solidFill>
                  <a:srgbClr val="157BDC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RELATIONSHIP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47443" y="5556214"/>
            <a:ext cx="1954889" cy="1599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19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Total-count</a:t>
            </a:r>
          </a:p>
          <a:p>
            <a:pPr algn="l">
              <a:lnSpc>
                <a:spcPts val="2661"/>
              </a:lnSpc>
            </a:pPr>
            <a:r>
              <a:rPr lang="en-US" sz="2047" spc="-19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=</a:t>
            </a:r>
          </a:p>
          <a:p>
            <a:pPr algn="l">
              <a:lnSpc>
                <a:spcPts val="2661"/>
              </a:lnSpc>
            </a:pPr>
            <a:r>
              <a:rPr lang="en-US" sz="2047" spc="-19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UNHCR-refugees</a:t>
            </a:r>
          </a:p>
          <a:p>
            <a:pPr algn="l">
              <a:lnSpc>
                <a:spcPts val="2661"/>
              </a:lnSpc>
            </a:pPr>
            <a:r>
              <a:rPr lang="en-US" sz="2047" spc="-19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+</a:t>
            </a:r>
          </a:p>
          <a:p>
            <a:pPr algn="l">
              <a:lnSpc>
                <a:spcPts val="2661"/>
              </a:lnSpc>
            </a:pPr>
            <a:r>
              <a:rPr lang="en-US" sz="2047" spc="-19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Asylum-seekers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45330" y="7499343"/>
            <a:ext cx="9154938" cy="2579949"/>
          </a:xfrm>
          <a:custGeom>
            <a:avLst/>
            <a:gdLst/>
            <a:ahLst/>
            <a:cxnLst/>
            <a:rect r="r" b="b" t="t" l="l"/>
            <a:pathLst>
              <a:path h="2579949" w="9154938">
                <a:moveTo>
                  <a:pt x="0" y="0"/>
                </a:moveTo>
                <a:lnTo>
                  <a:pt x="9154938" y="0"/>
                </a:lnTo>
                <a:lnTo>
                  <a:pt x="915493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59452" y="8348528"/>
            <a:ext cx="7284438" cy="1412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18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Verify “Asylum Country” meaning per original documentation</a:t>
            </a:r>
          </a:p>
          <a:p>
            <a:pPr algn="l">
              <a:lnSpc>
                <a:spcPts val="2874"/>
              </a:lnSpc>
            </a:pPr>
            <a:r>
              <a:rPr lang="en-US" sz="1916" spc="-18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Check for missing values, duplicates, inconsistent country names</a:t>
            </a:r>
          </a:p>
          <a:p>
            <a:pPr algn="l">
              <a:lnSpc>
                <a:spcPts val="2874"/>
              </a:lnSpc>
            </a:pPr>
            <a:r>
              <a:rPr lang="en-US" sz="1916" spc="-18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Confirm Total-count = UNHCR-refugees + Asylum-seekers per row</a:t>
            </a:r>
          </a:p>
          <a:p>
            <a:pPr algn="l">
              <a:lnSpc>
                <a:spcPts val="2874"/>
              </a:lnSpc>
            </a:pPr>
            <a:r>
              <a:rPr lang="en-US" sz="1916" spc="-18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Dataset does not confirm physical residency or causal factors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2297" y="7944844"/>
            <a:ext cx="7500938" cy="32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b="true" sz="2188" spc="-21">
                <a:solidFill>
                  <a:srgbClr val="157BDC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DATA QUALITY CONSIDERATIONS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8950" y="703501"/>
            <a:ext cx="10829951" cy="99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3"/>
              </a:lnSpc>
            </a:pPr>
            <a:r>
              <a:rPr lang="en-US" sz="7543" spc="-302" b="true">
                <a:solidFill>
                  <a:srgbClr val="F6F6F6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Visualizations from the Report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705390"/>
            <a:ext cx="1323474" cy="448211"/>
          </a:xfrm>
          <a:custGeom>
            <a:avLst/>
            <a:gdLst/>
            <a:ahLst/>
            <a:cxnLst/>
            <a:rect r="r" b="b" t="t" l="l"/>
            <a:pathLst>
              <a:path h="448211" w="1323474">
                <a:moveTo>
                  <a:pt x="0" y="0"/>
                </a:moveTo>
                <a:lnTo>
                  <a:pt x="1323474" y="0"/>
                </a:lnTo>
                <a:lnTo>
                  <a:pt x="132347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9139" y="2231737"/>
            <a:ext cx="10811142" cy="41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82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Key visual tools that reveal refugee and asylum-seeker patterns in the Philippines.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6574" y="2995365"/>
            <a:ext cx="5457962" cy="6865288"/>
          </a:xfrm>
          <a:custGeom>
            <a:avLst/>
            <a:gdLst/>
            <a:ahLst/>
            <a:cxnLst/>
            <a:rect r="r" b="b" t="t" l="l"/>
            <a:pathLst>
              <a:path h="6865288" w="5457962">
                <a:moveTo>
                  <a:pt x="0" y="0"/>
                </a:moveTo>
                <a:lnTo>
                  <a:pt x="5457962" y="0"/>
                </a:lnTo>
                <a:lnTo>
                  <a:pt x="5457962" y="6865287"/>
                </a:lnTo>
                <a:lnTo>
                  <a:pt x="0" y="68652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8073" y="3451665"/>
            <a:ext cx="2858037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b="true" sz="2311" spc="-22">
                <a:solidFill>
                  <a:srgbClr val="FFFFFF">
                    <a:alpha val="80000"/>
                  </a:srgbClr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OVERVIEW SCORECARD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69731" y="4405468"/>
            <a:ext cx="1040843" cy="75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7"/>
              </a:lnSpc>
            </a:pPr>
            <a:r>
              <a:rPr lang="en-US" b="true" sz="4921" spc="-146">
                <a:solidFill>
                  <a:srgbClr val="0C66C2"/>
                </a:solidFill>
                <a:latin typeface="Inter Bold"/>
                <a:ea typeface="Inter Bold"/>
                <a:cs typeface="Inter Bold"/>
                <a:sym typeface="Inter Bold"/>
              </a:rPr>
              <a:t>512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69731" y="5758195"/>
            <a:ext cx="1040843" cy="71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8"/>
              </a:lnSpc>
            </a:pPr>
            <a:r>
              <a:rPr lang="en-US" b="true" sz="4781" spc="-142">
                <a:solidFill>
                  <a:srgbClr val="0C66C2"/>
                </a:solidFill>
                <a:latin typeface="Inter Bold"/>
                <a:ea typeface="Inter Bold"/>
                <a:cs typeface="Inter Bold"/>
                <a:sym typeface="Inter Bold"/>
              </a:rPr>
              <a:t>210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3121" y="7216876"/>
            <a:ext cx="1807461" cy="713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70" b="true">
                <a:solidFill>
                  <a:srgbClr val="FFFFFF">
                    <a:alpha val="80000"/>
                  </a:srgbClr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Combined total </a:t>
            </a:r>
          </a:p>
          <a:p>
            <a:pPr algn="l">
              <a:lnSpc>
                <a:spcPts val="2932"/>
              </a:lnSpc>
            </a:pPr>
            <a:r>
              <a:rPr lang="en-US" sz="2443" spc="-72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individuals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69731" y="7092472"/>
            <a:ext cx="1040843" cy="69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9"/>
              </a:lnSpc>
            </a:pPr>
            <a:r>
              <a:rPr lang="en-US" b="true" sz="4640" spc="-138">
                <a:solidFill>
                  <a:srgbClr val="CC2B2E"/>
                </a:solidFill>
                <a:latin typeface="Inter Bold"/>
                <a:ea typeface="Inter Bold"/>
                <a:cs typeface="Inter Bold"/>
                <a:sym typeface="Inter Bold"/>
              </a:rPr>
              <a:t>722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13851" y="8497082"/>
            <a:ext cx="693895" cy="75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6"/>
              </a:lnSpc>
            </a:pPr>
            <a:r>
              <a:rPr lang="en-US" b="true" sz="5062" spc="-150">
                <a:solidFill>
                  <a:srgbClr val="0C66C2"/>
                </a:solidFill>
                <a:latin typeface="Inter Bold"/>
                <a:ea typeface="Inter Bold"/>
                <a:cs typeface="Inter Bold"/>
                <a:sym typeface="Inter Bold"/>
              </a:rPr>
              <a:t>31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53587" y="3376361"/>
            <a:ext cx="3652191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b="true" sz="2311" spc="-22">
                <a:solidFill>
                  <a:srgbClr val="FFFFFF">
                    <a:alpha val="80000"/>
                  </a:srgbClr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COUNTRY-OF-ORIGIN SHARES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873598" y="3848060"/>
            <a:ext cx="4801694" cy="5367606"/>
          </a:xfrm>
          <a:custGeom>
            <a:avLst/>
            <a:gdLst/>
            <a:ahLst/>
            <a:cxnLst/>
            <a:rect r="r" b="b" t="t" l="l"/>
            <a:pathLst>
              <a:path h="5367606" w="4801694">
                <a:moveTo>
                  <a:pt x="0" y="0"/>
                </a:moveTo>
                <a:lnTo>
                  <a:pt x="4801694" y="0"/>
                </a:lnTo>
                <a:lnTo>
                  <a:pt x="4801694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496716" y="5038619"/>
            <a:ext cx="1161517" cy="267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9"/>
              </a:lnSpc>
            </a:pPr>
            <a:r>
              <a:rPr lang="en-US" b="true" sz="1757" spc="-52">
                <a:solidFill>
                  <a:srgbClr val="FFFFFF">
                    <a:alpha val="80000"/>
                  </a:srgbClr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15.0%</a:t>
            </a:r>
            <a:r>
              <a:rPr lang="en-US" sz="1757" spc="-52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Pakistan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81999" y="7824875"/>
            <a:ext cx="837255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b="true" sz="1863" spc="-55">
                <a:solidFill>
                  <a:srgbClr val="FFFFFF">
                    <a:alpha val="80000"/>
                  </a:srgbClr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12.9%</a:t>
            </a:r>
            <a:r>
              <a:rPr lang="en-US" sz="1863" spc="-55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Iran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64990" y="3376361"/>
            <a:ext cx="3651005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b="true" sz="2311" spc="-22">
                <a:solidFill>
                  <a:srgbClr val="FFFFFF">
                    <a:alpha val="80000"/>
                  </a:srgbClr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ASYLUM-SEEKERS OVER TIME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965952" y="4066699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001500" y="4104330"/>
            <a:ext cx="2518172" cy="32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2188" spc="-65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Yearly counts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361330" y="4066699"/>
            <a:ext cx="667206" cy="229572"/>
          </a:xfrm>
          <a:custGeom>
            <a:avLst/>
            <a:gdLst/>
            <a:ahLst/>
            <a:cxnLst/>
            <a:rect r="r" b="b" t="t" l="l"/>
            <a:pathLst>
              <a:path h="229572" w="667206">
                <a:moveTo>
                  <a:pt x="0" y="0"/>
                </a:moveTo>
                <a:lnTo>
                  <a:pt x="667206" y="0"/>
                </a:lnTo>
                <a:lnTo>
                  <a:pt x="66720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747196" y="4711687"/>
            <a:ext cx="6114230" cy="4296271"/>
          </a:xfrm>
          <a:custGeom>
            <a:avLst/>
            <a:gdLst/>
            <a:ahLst/>
            <a:cxnLst/>
            <a:rect r="r" b="b" t="t" l="l"/>
            <a:pathLst>
              <a:path h="4296271" w="6114230">
                <a:moveTo>
                  <a:pt x="0" y="0"/>
                </a:moveTo>
                <a:lnTo>
                  <a:pt x="6114230" y="0"/>
                </a:lnTo>
                <a:lnTo>
                  <a:pt x="6114230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680118" y="9039237"/>
            <a:ext cx="5925978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6"/>
              </a:lnSpc>
            </a:pPr>
            <a:r>
              <a:rPr lang="en-US" sz="1863" spc="-55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2012  2013  2014  2015  2016  2017  2018  2019  2020  2021  2022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4736" y="8722960"/>
            <a:ext cx="2645981" cy="356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72" b="true">
                <a:solidFill>
                  <a:srgbClr val="FFFFFF">
                    <a:alpha val="80000"/>
                  </a:srgbClr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Countries represented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34657" y="6403018"/>
            <a:ext cx="837255" cy="249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6"/>
              </a:lnSpc>
            </a:pPr>
            <a:r>
              <a:rPr lang="en-US" b="true" sz="1705" spc="-50">
                <a:solidFill>
                  <a:srgbClr val="FFFFFF">
                    <a:alpha val="80000"/>
                  </a:srgbClr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14.5%</a:t>
            </a:r>
            <a:r>
              <a:rPr lang="en-US" sz="1705" spc="-50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Syria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5445" y="5951765"/>
            <a:ext cx="2575016" cy="356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72" b="true">
                <a:solidFill>
                  <a:srgbClr val="FFFFFF">
                    <a:alpha val="80000"/>
                  </a:srgbClr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Total asylum-seekers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3896" y="4641472"/>
            <a:ext cx="1729956" cy="356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72" b="true">
                <a:solidFill>
                  <a:srgbClr val="FFFFFF">
                    <a:alpha val="80000"/>
                  </a:srgbClr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Total refugees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90109" y="9313988"/>
            <a:ext cx="3509367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sz="2321" spc="-69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Other countries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358938" y="4104330"/>
            <a:ext cx="2411016" cy="32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2188" spc="-65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Trend line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154175" y="6027069"/>
            <a:ext cx="338051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sz="1863" spc="-55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200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154175" y="4671594"/>
            <a:ext cx="338051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sz="1863" spc="-55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300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54175" y="7367484"/>
            <a:ext cx="338051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sz="1863" spc="-55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100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374015" y="8738021"/>
            <a:ext cx="112684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sz="1863" spc="-55">
                <a:solidFill>
                  <a:srgbClr val="FFFFFF">
                    <a:alpha val="80000"/>
                  </a:srgbClr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6842" y="207708"/>
            <a:ext cx="6759560" cy="9445237"/>
          </a:xfrm>
          <a:custGeom>
            <a:avLst/>
            <a:gdLst/>
            <a:ahLst/>
            <a:cxnLst/>
            <a:rect r="r" b="b" t="t" l="l"/>
            <a:pathLst>
              <a:path h="9445237" w="6759560">
                <a:moveTo>
                  <a:pt x="0" y="0"/>
                </a:moveTo>
                <a:lnTo>
                  <a:pt x="6759560" y="0"/>
                </a:lnTo>
                <a:lnTo>
                  <a:pt x="6759560" y="9445237"/>
                </a:lnTo>
                <a:lnTo>
                  <a:pt x="0" y="9445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4791" y="1189534"/>
            <a:ext cx="6245943" cy="112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19"/>
              </a:lnSpc>
            </a:pPr>
            <a:r>
              <a:rPr lang="en-US" sz="8519" spc="-253" b="true">
                <a:solidFill>
                  <a:srgbClr val="F6F6F6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Key Findings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2350377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74031" y="3243814"/>
            <a:ext cx="3679665" cy="31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24">
                <a:solidFill>
                  <a:srgbClr val="FFFFFF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Total recorded population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4742" y="3811953"/>
            <a:ext cx="3250799" cy="2236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3"/>
              </a:lnSpc>
            </a:pPr>
            <a:r>
              <a:rPr lang="en-US" sz="16813" spc="-500" b="true">
                <a:solidFill>
                  <a:srgbClr val="0568C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722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7805" y="5758974"/>
            <a:ext cx="3302313" cy="31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24">
                <a:solidFill>
                  <a:srgbClr val="FFFFFF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individuals over 11 years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217330" y="3214004"/>
            <a:ext cx="229694" cy="3006296"/>
          </a:xfrm>
          <a:custGeom>
            <a:avLst/>
            <a:gdLst/>
            <a:ahLst/>
            <a:cxnLst/>
            <a:rect r="r" b="b" t="t" l="l"/>
            <a:pathLst>
              <a:path h="3006296" w="229694">
                <a:moveTo>
                  <a:pt x="0" y="0"/>
                </a:moveTo>
                <a:lnTo>
                  <a:pt x="229694" y="0"/>
                </a:lnTo>
                <a:lnTo>
                  <a:pt x="229694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201307" y="3263643"/>
            <a:ext cx="1375549" cy="1016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sz="7682" spc="-228" b="true">
                <a:solidFill>
                  <a:srgbClr val="0568C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512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01956" y="4177586"/>
            <a:ext cx="1310678" cy="31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24">
                <a:solidFill>
                  <a:srgbClr val="FFFFFF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Refugees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00757" y="4995640"/>
            <a:ext cx="1430546" cy="1016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sz="7682" spc="-228" b="true">
                <a:solidFill>
                  <a:srgbClr val="0568C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210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92735" y="5894522"/>
            <a:ext cx="2232706" cy="31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24">
                <a:solidFill>
                  <a:srgbClr val="FFFFFF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Asylum-seekers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0828" y="8062816"/>
            <a:ext cx="4232672" cy="29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spc="-23" b="true">
                <a:solidFill>
                  <a:srgbClr val="0568C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Syria/Syrian Arab Republic </a:t>
            </a:r>
            <a:r>
              <a:rPr lang="en-US" sz="2387" spc="-23" b="tru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14.5%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217330" y="6635716"/>
            <a:ext cx="229694" cy="3017228"/>
          </a:xfrm>
          <a:custGeom>
            <a:avLst/>
            <a:gdLst/>
            <a:ahLst/>
            <a:cxnLst/>
            <a:rect r="r" b="b" t="t" l="l"/>
            <a:pathLst>
              <a:path h="3017228" w="229694">
                <a:moveTo>
                  <a:pt x="0" y="0"/>
                </a:moveTo>
                <a:lnTo>
                  <a:pt x="229694" y="0"/>
                </a:lnTo>
                <a:lnTo>
                  <a:pt x="229694" y="3017229"/>
                </a:lnTo>
                <a:lnTo>
                  <a:pt x="0" y="30172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625703" y="6813096"/>
            <a:ext cx="4822031" cy="74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spc="-2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Steady upward trend in refugee</a:t>
            </a:r>
          </a:p>
          <a:p>
            <a:pPr algn="l">
              <a:lnSpc>
                <a:spcPts val="3017"/>
              </a:lnSpc>
            </a:pPr>
            <a:r>
              <a:rPr lang="en-US" sz="2321" spc="-2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and asylum-seeker counts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25703" y="7782610"/>
            <a:ext cx="4822031" cy="83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spc="-2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Average annual asylum-seeker</a:t>
            </a:r>
          </a:p>
          <a:p>
            <a:pPr algn="l">
              <a:lnSpc>
                <a:spcPts val="3482"/>
              </a:lnSpc>
            </a:pPr>
            <a:r>
              <a:rPr lang="en-US" sz="2321" spc="-2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count: approx. 28.5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25703" y="8861712"/>
            <a:ext cx="4822031" cy="79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spc="-2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Average cumulative baseline population: approx. </a:t>
            </a:r>
            <a:r>
              <a:rPr lang="en-US" sz="2188" spc="-21" b="true">
                <a:solidFill>
                  <a:srgbClr val="0568CD"/>
                </a:solidFill>
                <a:latin typeface="Inter Bold"/>
                <a:ea typeface="Inter Bold"/>
                <a:cs typeface="Inter Bold"/>
                <a:sym typeface="Inter Bold"/>
              </a:rPr>
              <a:t>293.4</a:t>
            </a:r>
            <a:r>
              <a:rPr lang="en-US" sz="2188" spc="-2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individuals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0828" y="6888070"/>
            <a:ext cx="4232672" cy="29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spc="-23">
                <a:solidFill>
                  <a:srgbClr val="FFFFFF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Largest country-of-origin shares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0828" y="7460382"/>
            <a:ext cx="4232672" cy="29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spc="-23" b="true">
                <a:solidFill>
                  <a:srgbClr val="0568C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Pakistan </a:t>
            </a:r>
            <a:r>
              <a:rPr lang="en-US" sz="2387" spc="-23" b="tru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15.0%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0828" y="8665250"/>
            <a:ext cx="4232672" cy="29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spc="-23" b="true">
                <a:solidFill>
                  <a:srgbClr val="0568C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Iran </a:t>
            </a:r>
            <a:r>
              <a:rPr lang="en-US" sz="2387" spc="-23" b="tru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12.9%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3934756" cy="10287000"/>
          </a:xfrm>
          <a:custGeom>
            <a:avLst/>
            <a:gdLst/>
            <a:ahLst/>
            <a:cxnLst/>
            <a:rect r="r" b="b" t="t" l="l"/>
            <a:pathLst>
              <a:path h="10287000" w="13934756">
                <a:moveTo>
                  <a:pt x="0" y="0"/>
                </a:moveTo>
                <a:lnTo>
                  <a:pt x="13934756" y="0"/>
                </a:lnTo>
                <a:lnTo>
                  <a:pt x="139347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03464" y="0"/>
            <a:ext cx="5884536" cy="10287000"/>
          </a:xfrm>
          <a:custGeom>
            <a:avLst/>
            <a:gdLst/>
            <a:ahLst/>
            <a:cxnLst/>
            <a:rect r="r" b="b" t="t" l="l"/>
            <a:pathLst>
              <a:path h="10287000" w="5884536">
                <a:moveTo>
                  <a:pt x="0" y="0"/>
                </a:moveTo>
                <a:lnTo>
                  <a:pt x="5884536" y="0"/>
                </a:lnTo>
                <a:lnTo>
                  <a:pt x="58845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1654" y="1114395"/>
            <a:ext cx="7238473" cy="243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1"/>
              </a:lnSpc>
            </a:pPr>
            <a:r>
              <a:rPr lang="en-US" sz="9915" spc="-295" b="true">
                <a:solidFill>
                  <a:srgbClr val="F8F8F8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Limitations and</a:t>
            </a:r>
          </a:p>
          <a:p>
            <a:pPr algn="l">
              <a:lnSpc>
                <a:spcPts val="9421"/>
              </a:lnSpc>
            </a:pPr>
            <a:r>
              <a:rPr lang="en-US" sz="9915" spc="-295" b="true">
                <a:solidFill>
                  <a:srgbClr val="F8F8F8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Conclusion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3421712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5330" y="4066699"/>
            <a:ext cx="5676718" cy="5586245"/>
          </a:xfrm>
          <a:custGeom>
            <a:avLst/>
            <a:gdLst/>
            <a:ahLst/>
            <a:cxnLst/>
            <a:rect r="r" b="b" t="t" l="l"/>
            <a:pathLst>
              <a:path h="5586245" w="5676718">
                <a:moveTo>
                  <a:pt x="0" y="0"/>
                </a:moveTo>
                <a:lnTo>
                  <a:pt x="5676718" y="0"/>
                </a:lnTo>
                <a:lnTo>
                  <a:pt x="5676718" y="5586246"/>
                </a:lnTo>
                <a:lnTo>
                  <a:pt x="0" y="55862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11110" y="4066699"/>
            <a:ext cx="6103292" cy="5586245"/>
          </a:xfrm>
          <a:custGeom>
            <a:avLst/>
            <a:gdLst/>
            <a:ahLst/>
            <a:cxnLst/>
            <a:rect r="r" b="b" t="t" l="l"/>
            <a:pathLst>
              <a:path h="5586245" w="6103292">
                <a:moveTo>
                  <a:pt x="0" y="0"/>
                </a:moveTo>
                <a:lnTo>
                  <a:pt x="6103292" y="0"/>
                </a:lnTo>
                <a:lnTo>
                  <a:pt x="6103292" y="5586246"/>
                </a:lnTo>
                <a:lnTo>
                  <a:pt x="0" y="55862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44032" y="4785377"/>
            <a:ext cx="2753057" cy="51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5"/>
              </a:lnSpc>
            </a:pPr>
            <a:r>
              <a:rPr lang="en-US" b="true" sz="3445" spc="-102">
                <a:solidFill>
                  <a:srgbClr val="C62B2B"/>
                </a:solidFill>
                <a:latin typeface="Inter Bold"/>
                <a:ea typeface="Inter Bold"/>
                <a:cs typeface="Inter Bold"/>
                <a:sym typeface="Inter Bold"/>
              </a:rPr>
              <a:t>LIMITATIONS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0946" y="5515000"/>
            <a:ext cx="5061635" cy="85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86">
                <a:solidFill>
                  <a:srgbClr val="F8F8F8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Dataset alone cannot establish causes or social impacts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1453" y="6873823"/>
            <a:ext cx="5010948" cy="85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86">
                <a:solidFill>
                  <a:srgbClr val="F8F8F8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Possible inconsistencies or ambiguities in variable definitions and data quality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6626" y="8331378"/>
            <a:ext cx="4493638" cy="85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86">
                <a:solidFill>
                  <a:srgbClr val="F8F8F8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Do not assume physical residency or effects without verified context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28448" y="4766929"/>
            <a:ext cx="2955160" cy="5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9"/>
              </a:lnSpc>
            </a:pPr>
            <a:r>
              <a:rPr lang="en-US" b="true" sz="3590" spc="-106">
                <a:solidFill>
                  <a:srgbClr val="0F72D0"/>
                </a:solidFill>
                <a:latin typeface="Inter Bold"/>
                <a:ea typeface="Inter Bold"/>
                <a:cs typeface="Inter Bold"/>
                <a:sym typeface="Inter Bold"/>
              </a:rPr>
              <a:t>CONCLUSION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12756" y="5515000"/>
            <a:ext cx="4524373" cy="128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86">
                <a:solidFill>
                  <a:srgbClr val="F8F8F8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This report provides a descriptive longitudinal overview of refugee statistics related to the Philippines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15257" y="7231936"/>
            <a:ext cx="4274333" cy="128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86">
                <a:solidFill>
                  <a:srgbClr val="F8F8F8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Findings serve as a basis for further research and exploration with caution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64354" y="1497682"/>
            <a:ext cx="7623646" cy="7291635"/>
          </a:xfrm>
          <a:custGeom>
            <a:avLst/>
            <a:gdLst/>
            <a:ahLst/>
            <a:cxnLst/>
            <a:rect r="r" b="b" t="t" l="l"/>
            <a:pathLst>
              <a:path h="7291635" w="7623646">
                <a:moveTo>
                  <a:pt x="0" y="0"/>
                </a:moveTo>
                <a:lnTo>
                  <a:pt x="7623646" y="0"/>
                </a:lnTo>
                <a:lnTo>
                  <a:pt x="7623646" y="7291636"/>
                </a:lnTo>
                <a:lnTo>
                  <a:pt x="0" y="72916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11110" y="7280704"/>
            <a:ext cx="10675292" cy="3006296"/>
          </a:xfrm>
          <a:custGeom>
            <a:avLst/>
            <a:gdLst/>
            <a:ahLst/>
            <a:cxnLst/>
            <a:rect r="r" b="b" t="t" l="l"/>
            <a:pathLst>
              <a:path h="3006296" w="10675292">
                <a:moveTo>
                  <a:pt x="0" y="0"/>
                </a:moveTo>
                <a:lnTo>
                  <a:pt x="10675292" y="0"/>
                </a:lnTo>
                <a:lnTo>
                  <a:pt x="1067529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9359" y="1012877"/>
            <a:ext cx="6146907" cy="123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7"/>
              </a:lnSpc>
            </a:pPr>
            <a:r>
              <a:rPr lang="en-US" sz="9357" spc="-466" b="true">
                <a:solidFill>
                  <a:srgbClr val="FFFFFF">
                    <a:alpha val="92941"/>
                  </a:srgbClr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References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2350377"/>
            <a:ext cx="1531292" cy="229572"/>
          </a:xfrm>
          <a:custGeom>
            <a:avLst/>
            <a:gdLst/>
            <a:ahLst/>
            <a:cxnLst/>
            <a:rect r="r" b="b" t="t" l="l"/>
            <a:pathLst>
              <a:path h="229572" w="1531292">
                <a:moveTo>
                  <a:pt x="0" y="0"/>
                </a:moveTo>
                <a:lnTo>
                  <a:pt x="1531292" y="0"/>
                </a:lnTo>
                <a:lnTo>
                  <a:pt x="153129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22292" y="3227875"/>
            <a:ext cx="6890312" cy="105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3036" spc="-90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Pagaduan, O. (n.d.). Philippines refugee</a:t>
            </a:r>
          </a:p>
          <a:p>
            <a:pPr algn="l">
              <a:lnSpc>
                <a:spcPts val="4252"/>
              </a:lnSpc>
            </a:pPr>
            <a:r>
              <a:rPr lang="en-US" sz="3036" spc="-90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statistics 2012–2022 [Data set]. </a:t>
            </a:r>
            <a:r>
              <a:rPr lang="en-US" sz="3036" spc="-90" b="true">
                <a:solidFill>
                  <a:srgbClr val="0F72D6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Kaggle.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3144" y="4883621"/>
            <a:ext cx="8805123" cy="191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970" spc="-88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Mohamed Ahmed, A. (n.d.). Canada refugee</a:t>
            </a:r>
          </a:p>
          <a:p>
            <a:pPr algn="l">
              <a:lnSpc>
                <a:spcPts val="3861"/>
              </a:lnSpc>
            </a:pPr>
            <a:r>
              <a:rPr lang="en-US" sz="2970" spc="-88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stats EDA [Computer software].</a:t>
            </a:r>
            <a:r>
              <a:rPr lang="en-US" sz="2970" spc="-88" b="true">
                <a:solidFill>
                  <a:srgbClr val="0F72D6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GitHub:</a:t>
            </a:r>
            <a:r>
              <a:rPr lang="en-US" sz="2970" spc="-88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 https://github.com/alaa-mohamedahmed/</a:t>
            </a:r>
          </a:p>
          <a:p>
            <a:pPr algn="l">
              <a:lnSpc>
                <a:spcPts val="3861"/>
              </a:lnSpc>
            </a:pPr>
            <a:r>
              <a:rPr lang="en-US" sz="2970" spc="-88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canada-refugee-stats-eda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0073" y="7428903"/>
            <a:ext cx="8112233" cy="143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970" spc="-88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Report prepared by Emerson C. Antic,</a:t>
            </a:r>
          </a:p>
          <a:p>
            <a:pPr algn="l">
              <a:lnSpc>
                <a:spcPts val="3861"/>
              </a:lnSpc>
            </a:pPr>
            <a:r>
              <a:rPr lang="en-US" sz="2970" spc="-88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October 11, 2026, for </a:t>
            </a:r>
            <a:r>
              <a:rPr lang="en-US" sz="2970" spc="-88" b="true">
                <a:solidFill>
                  <a:srgbClr val="0F72D6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DATA 502 - Data Mining,</a:t>
            </a:r>
          </a:p>
          <a:p>
            <a:pPr algn="l">
              <a:lnSpc>
                <a:spcPts val="3861"/>
              </a:lnSpc>
            </a:pPr>
            <a:r>
              <a:rPr lang="en-US" sz="2970" spc="-88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Activity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DAHXje3eygo</dc:identifier>
  <dcterms:modified xsi:type="dcterms:W3CDTF">2011-08-01T06:04:30Z</dcterms:modified>
  <cp:revision>1</cp:revision>
  <dc:title>Philippines Refugee Statistics</dc:title>
</cp:coreProperties>
</file>